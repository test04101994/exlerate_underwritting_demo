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Annual OCR spend avoided (USD)</c:v>
                </c:pt>
              </c:strCache>
            </c:strRef>
          </c:tx>
          <c:spPr>
            <a:solidFill>
              <a:srgbClr val="1E2761"/>
            </a:solidFill>
            <a:effectLst/>
          </c:spPr>
          <c:invertIfNegative val="0"/>
          <c:dLbls>
            <c:numFmt formatCode="&quot;$&quot;#,##0" sourceLinked="0"/>
            <c:txPr>
              <a:bodyPr/>
              <a:lstStyle/>
              <a:p>
                <a:pPr>
                  <a:defRPr b="1" i="0" strike="noStrike" sz="1050" u="none">
                    <a:solidFill>
                      <a:srgbClr val="1E2761"/>
                    </a:solidFill>
                    <a:latin typeface="Calibri"/>
                  </a:defRPr>
                </a:pPr>
              </a:p>
            </c:txPr>
            <c:showLegendKey val="0"/>
            <c:showVal val="1"/>
            <c:showCatName val="0"/>
            <c:showSerName val="0"/>
            <c:showPercent val="0"/>
            <c:showBubbleSize val="0"/>
            <c:showLeaderLines val="0"/>
          </c:dLbls>
          <c:cat>
            <c:multiLvlStrRef>
              <c:f>Sheet1!$A$2:$A$5</c:f>
              <c:multiLvlStrCache>
                <c:ptCount val="4"/>
                <c:lvl>
                  <c:pt idx="0">
                    <c:v>Today
600K pages/mo</c:v>
                  </c:pt>
                  <c:pt idx="1">
                    <c:v>2×
1.2M</c:v>
                  </c:pt>
                  <c:pt idx="2">
                    <c:v>3×
1.8M</c:v>
                  </c:pt>
                  <c:pt idx="3">
                    <c:v>5×
3.0M</c:v>
                  </c:pt>
                </c:lvl>
              </c:multiLvlStrCache>
            </c:multiLvlStrRef>
          </c:cat>
          <c:val>
            <c:numRef>
              <c:f>Sheet1!$B$2:$B$5</c:f>
              <c:numCache>
                <c:formatCode>General</c:formatCode>
                <c:ptCount val="4"/>
                <c:pt idx="0">
                  <c:v>10800</c:v>
                </c:pt>
                <c:pt idx="1">
                  <c:v>19440</c:v>
                </c:pt>
                <c:pt idx="2">
                  <c:v>23760</c:v>
                </c:pt>
                <c:pt idx="3">
                  <c:v>32400</c:v>
                </c:pt>
              </c:numCache>
            </c:numRef>
          </c:val>
        </c:ser>
        <c:dLbls>
          <c:numFmt formatCode="&quot;$&quot;#,##0" sourceLinked="0"/>
          <c:txPr>
            <a:bodyPr/>
            <a:lstStyle/>
            <a:p>
              <a:pPr>
                <a:defRPr b="1" i="0" strike="noStrike" sz="1050" u="none">
                  <a:solidFill>
                    <a:srgbClr val="1E2761"/>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B7280"/>
                </a:solidFill>
                <a:latin typeface="Calibri"/>
              </a:defRPr>
            </a:pPr>
            <a:endParaRPr lang="en-US"/>
          </a:p>
        </c:txPr>
        <c:crossAx val="2094734552"/>
        <c:crosses val="autoZero"/>
        <c:auto val="1"/>
        <c:lblAlgn val="ctr"/>
        <c:noMultiLvlLbl val="1"/>
      </c:catAx>
      <c:valAx>
        <c:axId val="2094734552"/>
        <c:scaling>
          <c:orientation val="minMax"/>
          <c:max val="380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of the preprocessing re-architecture for the Brit and Generali accounts.
Original design: every incoming document was pushed through Amazon Textract regardless of type. On review, two things were true — the source documents were already clean and machine-readable, and neither account needs key-field, table or form extraction at this stage. We were paying managed-API rates, and absorbing managed-API latency, for capability we did not consume.
Revised design: an intelligent OCR layer built on open-source packages and standard Python libraries. Text is lifted directly where the document permits it; OCR is invoked selectively on pages that need it. The extractor has no dependency on an external OCR service.
Volumes: Generali runs 3,000 submissions a month at roughly 4 documents and 20 pages per document, so 240,000 pages. Brit runs 9,000 slip contracts at around 40 pages each, so 360,000 pages. Combined 600,000 pages a month. Note that Brit is the heavier consumer on pages despite the document count, because slip contracts are long.
Outcome: preprocessing per submission fell from 3-5 minutes to under a minute, and the same infrastructure now clears roughly four to five times the volume, so growth in the book does not immediately translate into an infrastructure ask. Avoided OCR licence cost is 10.8K dollars a year at today's run rate on the conservative baseline.
On scale: the saving does grow with volume, but be ready for the pushback that it is sub-linear. Textract's own rate steps down above 1M pages a month, so the avoided cost per page falls as we grow. The scale argument is therefore better made on throughput and turnaround than on licence cost alone.
If challenged on the cost figure: the number on the slide uses text-detection-only pricing, which is the floor. If any part of the previous pipeline was calling AnalyzeDocument, the real avoided spend is materially higher — around 40K a year at today's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30352"/>
          </a:xfrm>
          <a:prstGeom prst="rect">
            <a:avLst/>
          </a:prstGeom>
          <a:noFill/>
          <a:ln/>
        </p:spPr>
        <p:txBody>
          <a:bodyPr wrap="square" lIns="0" tIns="0" rIns="0" bIns="0" rtlCol="0" anchor="ctr"/>
          <a:lstStyle/>
          <a:p>
            <a:pPr indent="0" marL="0">
              <a:buNone/>
            </a:pPr>
            <a:r>
              <a:rPr lang="en-US" sz="3300" b="1" dirty="0">
                <a:solidFill>
                  <a:srgbClr val="1E2761"/>
                </a:solidFill>
                <a:latin typeface="Cambria" pitchFamily="34" charset="0"/>
                <a:ea typeface="Cambria" pitchFamily="34" charset="-122"/>
                <a:cs typeface="Cambria" pitchFamily="34" charset="-120"/>
              </a:rPr>
              <a:t>Preprocessing Re-Architecture: Intelligent OCR</a:t>
            </a:r>
            <a:endParaRPr lang="en-US" sz="3300" dirty="0"/>
          </a:p>
        </p:txBody>
      </p:sp>
      <p:sp>
        <p:nvSpPr>
          <p:cNvPr id="3" name="Text 1"/>
          <p:cNvSpPr/>
          <p:nvPr/>
        </p:nvSpPr>
        <p:spPr>
          <a:xfrm>
            <a:off x="457200" y="841248"/>
            <a:ext cx="11247120" cy="2743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Brit &amp; Generali accounts  |  Submission intake pipeline  |  Managed OCR API dependency removed</a:t>
            </a:r>
            <a:endParaRPr lang="en-US" sz="1250" dirty="0"/>
          </a:p>
        </p:txBody>
      </p:sp>
      <p:sp>
        <p:nvSpPr>
          <p:cNvPr id="4" name="Shape 2"/>
          <p:cNvSpPr/>
          <p:nvPr/>
        </p:nvSpPr>
        <p:spPr>
          <a:xfrm>
            <a:off x="457200" y="1261872"/>
            <a:ext cx="3566160" cy="1371600"/>
          </a:xfrm>
          <a:prstGeom prst="roundRect">
            <a:avLst>
              <a:gd name="adj" fmla="val 5333"/>
            </a:avLst>
          </a:prstGeom>
          <a:solidFill>
            <a:srgbClr val="16203F"/>
          </a:solidFill>
          <a:ln w="12700">
            <a:solidFill>
              <a:srgbClr val="16203F"/>
            </a:solidFill>
            <a:prstDash val="solid"/>
          </a:ln>
        </p:spPr>
      </p:sp>
      <p:sp>
        <p:nvSpPr>
          <p:cNvPr id="5" name="Text 3"/>
          <p:cNvSpPr/>
          <p:nvPr/>
        </p:nvSpPr>
        <p:spPr>
          <a:xfrm>
            <a:off x="621792" y="1325880"/>
            <a:ext cx="3236976"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80%</a:t>
            </a:r>
            <a:endParaRPr lang="en-US" sz="3600" dirty="0"/>
          </a:p>
        </p:txBody>
      </p:sp>
      <p:sp>
        <p:nvSpPr>
          <p:cNvPr id="6" name="Text 4"/>
          <p:cNvSpPr/>
          <p:nvPr/>
        </p:nvSpPr>
        <p:spPr>
          <a:xfrm>
            <a:off x="621792" y="1856232"/>
            <a:ext cx="3236976" cy="219456"/>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faster</a:t>
            </a:r>
            <a:endParaRPr lang="en-US" sz="1200" dirty="0"/>
          </a:p>
        </p:txBody>
      </p:sp>
      <p:sp>
        <p:nvSpPr>
          <p:cNvPr id="7" name="Text 5"/>
          <p:cNvSpPr/>
          <p:nvPr/>
        </p:nvSpPr>
        <p:spPr>
          <a:xfrm>
            <a:off x="621792" y="2093976"/>
            <a:ext cx="3236976" cy="457200"/>
          </a:xfrm>
          <a:prstGeom prst="rect">
            <a:avLst/>
          </a:prstGeom>
          <a:noFill/>
          <a:ln/>
        </p:spPr>
        <p:txBody>
          <a:bodyPr wrap="square" lIns="0" tIns="0" rIns="0" bIns="0" rtlCol="0" anchor="ctr"/>
          <a:lstStyle/>
          <a:p>
            <a:pPr indent="0" marL="0">
              <a:lnSpc>
                <a:spcPct val="102000"/>
              </a:lnSpc>
              <a:buNone/>
            </a:pPr>
            <a:r>
              <a:rPr lang="en-US" sz="1050" dirty="0">
                <a:solidFill>
                  <a:srgbClr val="C9D3EC"/>
                </a:solidFill>
                <a:latin typeface="Calibri" pitchFamily="34" charset="0"/>
                <a:ea typeface="Calibri" pitchFamily="34" charset="-122"/>
                <a:cs typeface="Calibri" pitchFamily="34" charset="-120"/>
              </a:rPr>
              <a:t>Preprocessing per submission</a:t>
            </a:r>
            <a:endParaRPr lang="en-US" sz="1050" dirty="0"/>
          </a:p>
          <a:p>
            <a:pPr indent="0" marL="0">
              <a:lnSpc>
                <a:spcPct val="102000"/>
              </a:lnSpc>
              <a:buNone/>
            </a:pPr>
            <a:r>
              <a:rPr lang="en-US" sz="1050" dirty="0">
                <a:solidFill>
                  <a:srgbClr val="C9D3EC"/>
                </a:solidFill>
                <a:latin typeface="Calibri" pitchFamily="34" charset="0"/>
                <a:ea typeface="Calibri" pitchFamily="34" charset="-122"/>
                <a:cs typeface="Calibri" pitchFamily="34" charset="-120"/>
              </a:rPr>
              <a:t>3–5 min  →  under 1 min</a:t>
            </a:r>
            <a:endParaRPr lang="en-US" sz="1050" dirty="0"/>
          </a:p>
        </p:txBody>
      </p:sp>
      <p:sp>
        <p:nvSpPr>
          <p:cNvPr id="8" name="Shape 6"/>
          <p:cNvSpPr/>
          <p:nvPr/>
        </p:nvSpPr>
        <p:spPr>
          <a:xfrm>
            <a:off x="4297680" y="1261872"/>
            <a:ext cx="3566160" cy="1371600"/>
          </a:xfrm>
          <a:prstGeom prst="roundRect">
            <a:avLst>
              <a:gd name="adj" fmla="val 5333"/>
            </a:avLst>
          </a:prstGeom>
          <a:solidFill>
            <a:srgbClr val="F1F4FA"/>
          </a:solidFill>
          <a:ln w="12700">
            <a:solidFill>
              <a:srgbClr val="DDE3F0"/>
            </a:solidFill>
            <a:prstDash val="solid"/>
          </a:ln>
        </p:spPr>
      </p:sp>
      <p:sp>
        <p:nvSpPr>
          <p:cNvPr id="9" name="Text 7"/>
          <p:cNvSpPr/>
          <p:nvPr/>
        </p:nvSpPr>
        <p:spPr>
          <a:xfrm>
            <a:off x="4462272" y="1325880"/>
            <a:ext cx="3236976" cy="54864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4–5×</a:t>
            </a:r>
            <a:endParaRPr lang="en-US" sz="3600" dirty="0"/>
          </a:p>
        </p:txBody>
      </p:sp>
      <p:sp>
        <p:nvSpPr>
          <p:cNvPr id="10" name="Text 8"/>
          <p:cNvSpPr/>
          <p:nvPr/>
        </p:nvSpPr>
        <p:spPr>
          <a:xfrm>
            <a:off x="4462272" y="1856232"/>
            <a:ext cx="3236976" cy="219456"/>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throughput headroom</a:t>
            </a:r>
            <a:endParaRPr lang="en-US" sz="1200" dirty="0"/>
          </a:p>
        </p:txBody>
      </p:sp>
      <p:sp>
        <p:nvSpPr>
          <p:cNvPr id="11" name="Text 9"/>
          <p:cNvSpPr/>
          <p:nvPr/>
        </p:nvSpPr>
        <p:spPr>
          <a:xfrm>
            <a:off x="4462272" y="2093976"/>
            <a:ext cx="3236976" cy="457200"/>
          </a:xfrm>
          <a:prstGeom prst="rect">
            <a:avLst/>
          </a:prstGeom>
          <a:noFill/>
          <a:ln/>
        </p:spPr>
        <p:txBody>
          <a:bodyPr wrap="square" lIns="0" tIns="0" rIns="0" bIns="0" rtlCol="0" anchor="ctr"/>
          <a:lstStyle/>
          <a:p>
            <a:pPr indent="0" marL="0">
              <a:lnSpc>
                <a:spcPct val="102000"/>
              </a:lnSpc>
              <a:buNone/>
            </a:pPr>
            <a:r>
              <a:rPr lang="en-US" sz="1050" dirty="0">
                <a:solidFill>
                  <a:srgbClr val="6B7280"/>
                </a:solidFill>
                <a:latin typeface="Calibri" pitchFamily="34" charset="0"/>
                <a:ea typeface="Calibri" pitchFamily="34" charset="-122"/>
                <a:cs typeface="Calibri" pitchFamily="34" charset="-120"/>
              </a:rPr>
              <a:t>Same infrastructure absorbs volume</a:t>
            </a:r>
            <a:endParaRPr lang="en-US" sz="1050" dirty="0"/>
          </a:p>
          <a:p>
            <a:pPr indent="0" marL="0">
              <a:lnSpc>
                <a:spcPct val="102000"/>
              </a:lnSpc>
              <a:buNone/>
            </a:pPr>
            <a:r>
              <a:rPr lang="en-US" sz="1050" dirty="0">
                <a:solidFill>
                  <a:srgbClr val="6B7280"/>
                </a:solidFill>
                <a:latin typeface="Calibri" pitchFamily="34" charset="0"/>
                <a:ea typeface="Calibri" pitchFamily="34" charset="-122"/>
                <a:cs typeface="Calibri" pitchFamily="34" charset="-120"/>
              </a:rPr>
              <a:t>growth without additional scaling</a:t>
            </a:r>
            <a:endParaRPr lang="en-US" sz="1050" dirty="0"/>
          </a:p>
        </p:txBody>
      </p:sp>
      <p:sp>
        <p:nvSpPr>
          <p:cNvPr id="12" name="Shape 10"/>
          <p:cNvSpPr/>
          <p:nvPr/>
        </p:nvSpPr>
        <p:spPr>
          <a:xfrm>
            <a:off x="8138160" y="1261872"/>
            <a:ext cx="3566160" cy="1371600"/>
          </a:xfrm>
          <a:prstGeom prst="roundRect">
            <a:avLst>
              <a:gd name="adj" fmla="val 5333"/>
            </a:avLst>
          </a:prstGeom>
          <a:solidFill>
            <a:srgbClr val="F1F4FA"/>
          </a:solidFill>
          <a:ln w="12700">
            <a:solidFill>
              <a:srgbClr val="DDE3F0"/>
            </a:solidFill>
            <a:prstDash val="solid"/>
          </a:ln>
        </p:spPr>
      </p:sp>
      <p:sp>
        <p:nvSpPr>
          <p:cNvPr id="13" name="Text 11"/>
          <p:cNvSpPr/>
          <p:nvPr/>
        </p:nvSpPr>
        <p:spPr>
          <a:xfrm>
            <a:off x="8302752" y="1325880"/>
            <a:ext cx="3236976" cy="548640"/>
          </a:xfrm>
          <a:prstGeom prst="rect">
            <a:avLst/>
          </a:prstGeom>
          <a:noFill/>
          <a:ln/>
        </p:spPr>
        <p:txBody>
          <a:bodyPr wrap="square" lIns="0" tIns="0" rIns="0" bIns="0" rtlCol="0" anchor="ctr"/>
          <a:lstStyle/>
          <a:p>
            <a:pPr indent="0" marL="0">
              <a:buNone/>
            </a:pPr>
            <a:r>
              <a:rPr lang="en-US" sz="3600" b="1" dirty="0">
                <a:solidFill>
                  <a:srgbClr val="1E2761"/>
                </a:solidFill>
                <a:latin typeface="Cambria" pitchFamily="34" charset="0"/>
                <a:ea typeface="Cambria" pitchFamily="34" charset="-122"/>
                <a:cs typeface="Cambria" pitchFamily="34" charset="-120"/>
              </a:rPr>
              <a:t>$10.8K</a:t>
            </a:r>
            <a:endParaRPr lang="en-US" sz="3600" dirty="0"/>
          </a:p>
        </p:txBody>
      </p:sp>
      <p:sp>
        <p:nvSpPr>
          <p:cNvPr id="14" name="Text 12"/>
          <p:cNvSpPr/>
          <p:nvPr/>
        </p:nvSpPr>
        <p:spPr>
          <a:xfrm>
            <a:off x="8302752" y="1856232"/>
            <a:ext cx="3236976" cy="219456"/>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avoided / year</a:t>
            </a:r>
            <a:endParaRPr lang="en-US" sz="1200" dirty="0"/>
          </a:p>
        </p:txBody>
      </p:sp>
      <p:sp>
        <p:nvSpPr>
          <p:cNvPr id="15" name="Text 13"/>
          <p:cNvSpPr/>
          <p:nvPr/>
        </p:nvSpPr>
        <p:spPr>
          <a:xfrm>
            <a:off x="8302752" y="2093976"/>
            <a:ext cx="3236976" cy="457200"/>
          </a:xfrm>
          <a:prstGeom prst="rect">
            <a:avLst/>
          </a:prstGeom>
          <a:noFill/>
          <a:ln/>
        </p:spPr>
        <p:txBody>
          <a:bodyPr wrap="square" lIns="0" tIns="0" rIns="0" bIns="0" rtlCol="0" anchor="ctr"/>
          <a:lstStyle/>
          <a:p>
            <a:pPr indent="0" marL="0">
              <a:lnSpc>
                <a:spcPct val="102000"/>
              </a:lnSpc>
              <a:buNone/>
            </a:pPr>
            <a:r>
              <a:rPr lang="en-US" sz="1050" dirty="0">
                <a:solidFill>
                  <a:srgbClr val="6B7280"/>
                </a:solidFill>
                <a:latin typeface="Calibri" pitchFamily="34" charset="0"/>
                <a:ea typeface="Calibri" pitchFamily="34" charset="-122"/>
                <a:cs typeface="Calibri" pitchFamily="34" charset="-120"/>
              </a:rPr>
              <a:t>At today's combined run rate</a:t>
            </a:r>
            <a:endParaRPr lang="en-US" sz="1050" dirty="0"/>
          </a:p>
          <a:p>
            <a:pPr indent="0" marL="0">
              <a:lnSpc>
                <a:spcPct val="102000"/>
              </a:lnSpc>
              <a:buNone/>
            </a:pPr>
            <a:r>
              <a:rPr lang="en-US" sz="1050" dirty="0">
                <a:solidFill>
                  <a:srgbClr val="6B7280"/>
                </a:solidFill>
                <a:latin typeface="Calibri" pitchFamily="34" charset="0"/>
                <a:ea typeface="Calibri" pitchFamily="34" charset="-122"/>
                <a:cs typeface="Calibri" pitchFamily="34" charset="-120"/>
              </a:rPr>
              <a:t>of 600,000 pages per month</a:t>
            </a:r>
            <a:endParaRPr lang="en-US" sz="1050" dirty="0"/>
          </a:p>
        </p:txBody>
      </p:sp>
      <p:sp>
        <p:nvSpPr>
          <p:cNvPr id="16" name="Shape 14"/>
          <p:cNvSpPr/>
          <p:nvPr/>
        </p:nvSpPr>
        <p:spPr>
          <a:xfrm>
            <a:off x="457200" y="2798064"/>
            <a:ext cx="237744" cy="237744"/>
          </a:xfrm>
          <a:prstGeom prst="ellipse">
            <a:avLst/>
          </a:prstGeom>
          <a:solidFill>
            <a:srgbClr val="00A896"/>
          </a:solidFill>
          <a:ln w="12700">
            <a:solidFill>
              <a:srgbClr val="00A896"/>
            </a:solidFill>
            <a:prstDash val="solid"/>
          </a:ln>
        </p:spPr>
      </p:sp>
      <p:sp>
        <p:nvSpPr>
          <p:cNvPr id="17" name="Text 15"/>
          <p:cNvSpPr/>
          <p:nvPr/>
        </p:nvSpPr>
        <p:spPr>
          <a:xfrm>
            <a:off x="457200" y="27980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8" name="Text 16"/>
          <p:cNvSpPr/>
          <p:nvPr/>
        </p:nvSpPr>
        <p:spPr>
          <a:xfrm>
            <a:off x="786384" y="2798064"/>
            <a:ext cx="3236976"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Quality-gated OCR, not blanket OCR</a:t>
            </a:r>
            <a:endParaRPr lang="en-US" sz="1150" dirty="0"/>
          </a:p>
        </p:txBody>
      </p:sp>
      <p:sp>
        <p:nvSpPr>
          <p:cNvPr id="19" name="Shape 17"/>
          <p:cNvSpPr/>
          <p:nvPr/>
        </p:nvSpPr>
        <p:spPr>
          <a:xfrm>
            <a:off x="4297680" y="2798064"/>
            <a:ext cx="237744" cy="237744"/>
          </a:xfrm>
          <a:prstGeom prst="ellipse">
            <a:avLst/>
          </a:prstGeom>
          <a:solidFill>
            <a:srgbClr val="00A896"/>
          </a:solidFill>
          <a:ln w="12700">
            <a:solidFill>
              <a:srgbClr val="00A896"/>
            </a:solidFill>
            <a:prstDash val="solid"/>
          </a:ln>
        </p:spPr>
      </p:sp>
      <p:sp>
        <p:nvSpPr>
          <p:cNvPr id="20" name="Text 18"/>
          <p:cNvSpPr/>
          <p:nvPr/>
        </p:nvSpPr>
        <p:spPr>
          <a:xfrm>
            <a:off x="4297680" y="27980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21" name="Text 19"/>
          <p:cNvSpPr/>
          <p:nvPr/>
        </p:nvSpPr>
        <p:spPr>
          <a:xfrm>
            <a:off x="4626864" y="2798064"/>
            <a:ext cx="3236976"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Open-source stack, standard Python libraries</a:t>
            </a:r>
            <a:endParaRPr lang="en-US" sz="1150" dirty="0"/>
          </a:p>
        </p:txBody>
      </p:sp>
      <p:sp>
        <p:nvSpPr>
          <p:cNvPr id="22" name="Shape 20"/>
          <p:cNvSpPr/>
          <p:nvPr/>
        </p:nvSpPr>
        <p:spPr>
          <a:xfrm>
            <a:off x="8138160" y="2798064"/>
            <a:ext cx="237744" cy="237744"/>
          </a:xfrm>
          <a:prstGeom prst="ellipse">
            <a:avLst/>
          </a:prstGeom>
          <a:solidFill>
            <a:srgbClr val="00A896"/>
          </a:solidFill>
          <a:ln w="12700">
            <a:solidFill>
              <a:srgbClr val="00A896"/>
            </a:solidFill>
            <a:prstDash val="solid"/>
          </a:ln>
        </p:spPr>
      </p:sp>
      <p:sp>
        <p:nvSpPr>
          <p:cNvPr id="23" name="Text 21"/>
          <p:cNvSpPr/>
          <p:nvPr/>
        </p:nvSpPr>
        <p:spPr>
          <a:xfrm>
            <a:off x="8138160" y="2798064"/>
            <a:ext cx="237744" cy="23774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4" name="Text 22"/>
          <p:cNvSpPr/>
          <p:nvPr/>
        </p:nvSpPr>
        <p:spPr>
          <a:xfrm>
            <a:off x="8467344" y="2798064"/>
            <a:ext cx="3236976" cy="237744"/>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No key-field or table extraction required</a:t>
            </a:r>
            <a:endParaRPr lang="en-US" sz="1150" dirty="0"/>
          </a:p>
        </p:txBody>
      </p:sp>
      <p:sp>
        <p:nvSpPr>
          <p:cNvPr id="25" name="Text 23"/>
          <p:cNvSpPr/>
          <p:nvPr/>
        </p:nvSpPr>
        <p:spPr>
          <a:xfrm>
            <a:off x="457200" y="3310128"/>
            <a:ext cx="5394960" cy="25603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Today's run rate and OCR spend avoided</a:t>
            </a:r>
            <a:endParaRPr lang="en-US" sz="145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3621024"/>
          <a:ext cx="5394960" cy="914400"/>
        </p:xfrm>
        <a:graphic>
          <a:graphicData uri="http://schemas.openxmlformats.org/drawingml/2006/table">
            <a:tbl>
              <a:tblPr/>
              <a:tblGrid>
                <a:gridCol w="960120"/>
                <a:gridCol w="2331720"/>
                <a:gridCol w="960120"/>
                <a:gridCol w="114300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Account</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Volume basis</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Pages / mo</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Avoided / yr</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1E2761"/>
                    </a:solidFill>
                  </a:tcPr>
                </a:tc>
              </a:tr>
              <a:tr h="329184">
                <a:tc>
                  <a:txBody>
                    <a:bodyPr/>
                    <a:lstStyle/>
                    <a:p>
                      <a:pPr indent="0" marL="0">
                        <a:buNone/>
                      </a:pPr>
                      <a:r>
                        <a:rPr lang="en-US" sz="1050" b="1" dirty="0">
                          <a:solidFill>
                            <a:srgbClr val="333A4D"/>
                          </a:solidFill>
                          <a:latin typeface="Calibri" pitchFamily="34" charset="0"/>
                          <a:ea typeface="Calibri" pitchFamily="34" charset="-122"/>
                          <a:cs typeface="Calibri" pitchFamily="34" charset="-120"/>
                        </a:rPr>
                        <a:t>Generali</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050" dirty="0">
                          <a:solidFill>
                            <a:srgbClr val="333A4D"/>
                          </a:solidFill>
                          <a:latin typeface="Calibri" pitchFamily="34" charset="0"/>
                          <a:ea typeface="Calibri" pitchFamily="34" charset="-122"/>
                          <a:cs typeface="Calibri" pitchFamily="34" charset="-120"/>
                        </a:rPr>
                        <a:t>3,000 submissions × 4 docs × 20 pp</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r" indent="0" marL="0">
                        <a:buNone/>
                      </a:pPr>
                      <a:r>
                        <a:rPr lang="en-US" sz="1050" dirty="0">
                          <a:solidFill>
                            <a:srgbClr val="333A4D"/>
                          </a:solidFill>
                          <a:latin typeface="Calibri" pitchFamily="34" charset="0"/>
                          <a:ea typeface="Calibri" pitchFamily="34" charset="-122"/>
                          <a:cs typeface="Calibri" pitchFamily="34" charset="-120"/>
                        </a:rPr>
                        <a:t>240,000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r" indent="0" marL="0">
                        <a:buNone/>
                      </a:pPr>
                      <a:r>
                        <a:rPr lang="en-US" sz="1050" dirty="0">
                          <a:solidFill>
                            <a:srgbClr val="333A4D"/>
                          </a:solidFill>
                          <a:latin typeface="Calibri" pitchFamily="34" charset="0"/>
                          <a:ea typeface="Calibri" pitchFamily="34" charset="-122"/>
                          <a:cs typeface="Calibri" pitchFamily="34" charset="-120"/>
                        </a:rPr>
                        <a:t>$4,320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r>
              <a:tr h="329184">
                <a:tc>
                  <a:txBody>
                    <a:bodyPr/>
                    <a:lstStyle/>
                    <a:p>
                      <a:pPr indent="0" marL="0">
                        <a:buNone/>
                      </a:pPr>
                      <a:r>
                        <a:rPr lang="en-US" sz="1050" b="1" dirty="0">
                          <a:solidFill>
                            <a:srgbClr val="333A4D"/>
                          </a:solidFill>
                          <a:latin typeface="Calibri" pitchFamily="34" charset="0"/>
                          <a:ea typeface="Calibri" pitchFamily="34" charset="-122"/>
                          <a:cs typeface="Calibri" pitchFamily="34" charset="-120"/>
                        </a:rPr>
                        <a:t>Brit</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indent="0" marL="0">
                        <a:buNone/>
                      </a:pPr>
                      <a:r>
                        <a:rPr lang="en-US" sz="1050" dirty="0">
                          <a:solidFill>
                            <a:srgbClr val="333A4D"/>
                          </a:solidFill>
                          <a:latin typeface="Calibri" pitchFamily="34" charset="0"/>
                          <a:ea typeface="Calibri" pitchFamily="34" charset="-122"/>
                          <a:cs typeface="Calibri" pitchFamily="34" charset="-120"/>
                        </a:rPr>
                        <a:t>9,000 slip contracts × 40 pp</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r" indent="0" marL="0">
                        <a:buNone/>
                      </a:pPr>
                      <a:r>
                        <a:rPr lang="en-US" sz="1050" dirty="0">
                          <a:solidFill>
                            <a:srgbClr val="333A4D"/>
                          </a:solidFill>
                          <a:latin typeface="Calibri" pitchFamily="34" charset="0"/>
                          <a:ea typeface="Calibri" pitchFamily="34" charset="-122"/>
                          <a:cs typeface="Calibri" pitchFamily="34" charset="-120"/>
                        </a:rPr>
                        <a:t>360,000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c>
                  <a:txBody>
                    <a:bodyPr/>
                    <a:lstStyle/>
                    <a:p>
                      <a:pPr algn="r" indent="0" marL="0">
                        <a:buNone/>
                      </a:pPr>
                      <a:r>
                        <a:rPr lang="en-US" sz="1050" dirty="0">
                          <a:solidFill>
                            <a:srgbClr val="333A4D"/>
                          </a:solidFill>
                          <a:latin typeface="Calibri" pitchFamily="34" charset="0"/>
                          <a:ea typeface="Calibri" pitchFamily="34" charset="-122"/>
                          <a:cs typeface="Calibri" pitchFamily="34" charset="-120"/>
                        </a:rPr>
                        <a:t>$6,480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tcPr>
                </a:tc>
              </a:tr>
              <a:tr h="329184">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Combined</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F1F4FA"/>
                    </a:solidFill>
                  </a:tcPr>
                </a:tc>
                <a:tc>
                  <a:txBody>
                    <a:bodyPr/>
                    <a:lstStyle/>
                    <a:p>
                      <a:pPr indent="0" marL="0">
                        <a:buNone/>
                      </a:pPr>
                      <a:r>
                        <a:rPr lang="en-US" sz="1050" b="1" dirty="0">
                          <a:solidFill>
                            <a:srgbClr val="1E2761"/>
                          </a:solidFill>
                          <a:latin typeface="Calibri" pitchFamily="34" charset="0"/>
                          <a:ea typeface="Calibri" pitchFamily="34" charset="-122"/>
                          <a:cs typeface="Calibri" pitchFamily="34" charset="-120"/>
                        </a:rPr>
                        <a:t>21,000 documents per month</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F1F4FA"/>
                    </a:solidFill>
                  </a:tcPr>
                </a:tc>
                <a:tc>
                  <a:txBody>
                    <a:bodyPr/>
                    <a:lstStyle/>
                    <a:p>
                      <a:pPr algn="r" indent="0" marL="0">
                        <a:buNone/>
                      </a:pPr>
                      <a:r>
                        <a:rPr lang="en-US" sz="1050" b="1" dirty="0">
                          <a:solidFill>
                            <a:srgbClr val="1E2761"/>
                          </a:solidFill>
                          <a:latin typeface="Calibri" pitchFamily="34" charset="0"/>
                          <a:ea typeface="Calibri" pitchFamily="34" charset="-122"/>
                          <a:cs typeface="Calibri" pitchFamily="34" charset="-120"/>
                        </a:rPr>
                        <a:t>600,000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F1F4FA"/>
                    </a:solidFill>
                  </a:tcPr>
                </a:tc>
                <a:tc>
                  <a:txBody>
                    <a:bodyPr/>
                    <a:lstStyle/>
                    <a:p>
                      <a:pPr algn="r" indent="0" marL="0">
                        <a:buNone/>
                      </a:pPr>
                      <a:r>
                        <a:rPr lang="en-US" sz="1050" b="1" dirty="0">
                          <a:solidFill>
                            <a:srgbClr val="1E2761"/>
                          </a:solidFill>
                          <a:latin typeface="Calibri" pitchFamily="34" charset="0"/>
                          <a:ea typeface="Calibri" pitchFamily="34" charset="-122"/>
                          <a:cs typeface="Calibri" pitchFamily="34" charset="-120"/>
                        </a:rPr>
                        <a:t>$10,800</a:t>
                      </a:r>
                      <a:endParaRPr lang="en-US" sz="1050" dirty="0">
                        <a:latin typeface="Calibri" charset="0"/>
                        <a:ea typeface="Calibri" charset="0"/>
                        <a:cs typeface="Calibri" charset="0"/>
                      </a:endParaRPr>
                    </a:p>
                  </a:txBody>
                  <a:tcPr marL="73152" marR="73152" marT="36576" marB="36576" anchor="ctr">
                    <a:lnL w="9525" cap="flat" cmpd="sng" algn="ctr">
                      <a:solidFill>
                        <a:srgbClr val="E2E6F0"/>
                      </a:solidFill>
                      <a:prstDash val="solid"/>
                      <a:round/>
                      <a:headEnd type="none" w="med" len="med"/>
                      <a:tailEnd type="none" w="med" len="med"/>
                    </a:lnL>
                    <a:lnR w="9525" cap="flat" cmpd="sng" algn="ctr">
                      <a:solidFill>
                        <a:srgbClr val="E2E6F0"/>
                      </a:solidFill>
                      <a:prstDash val="solid"/>
                      <a:round/>
                      <a:headEnd type="none" w="med" len="med"/>
                      <a:tailEnd type="none" w="med" len="med"/>
                    </a:lnR>
                    <a:lnT w="9525" cap="flat" cmpd="sng" algn="ctr">
                      <a:solidFill>
                        <a:srgbClr val="E2E6F0"/>
                      </a:solidFill>
                      <a:prstDash val="solid"/>
                      <a:round/>
                      <a:headEnd type="none" w="med" len="med"/>
                      <a:tailEnd type="none" w="med" len="med"/>
                    </a:lnT>
                    <a:lnB w="9525" cap="flat" cmpd="sng" algn="ctr">
                      <a:solidFill>
                        <a:srgbClr val="E2E6F0"/>
                      </a:solidFill>
                      <a:prstDash val="solid"/>
                      <a:round/>
                      <a:headEnd type="none" w="med" len="med"/>
                      <a:tailEnd type="none" w="med" len="med"/>
                    </a:lnB>
                    <a:solidFill>
                      <a:srgbClr val="F1F4FA"/>
                    </a:solidFill>
                  </a:tcPr>
                </a:tc>
              </a:tr>
            </a:tbl>
          </a:graphicData>
        </a:graphic>
      </p:graphicFrame>
      <p:sp>
        <p:nvSpPr>
          <p:cNvPr id="27" name="Text 24"/>
          <p:cNvSpPr/>
          <p:nvPr/>
        </p:nvSpPr>
        <p:spPr>
          <a:xfrm>
            <a:off x="457200" y="5376672"/>
            <a:ext cx="5394960" cy="420624"/>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Brit is the heavier consumer: fewer documents than Generali, but 40 pages per slip contract drives 60% of total page volume.</a:t>
            </a:r>
            <a:endParaRPr lang="en-US" sz="1050" dirty="0"/>
          </a:p>
        </p:txBody>
      </p:sp>
      <p:sp>
        <p:nvSpPr>
          <p:cNvPr id="28" name="Text 25"/>
          <p:cNvSpPr/>
          <p:nvPr/>
        </p:nvSpPr>
        <p:spPr>
          <a:xfrm>
            <a:off x="6309360" y="3310128"/>
            <a:ext cx="5394960" cy="256032"/>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Projected annual saving as volume scales</a:t>
            </a:r>
            <a:endParaRPr lang="en-US" sz="1450" dirty="0"/>
          </a:p>
        </p:txBody>
      </p:sp>
      <p:graphicFrame>
        <p:nvGraphicFramePr>
          <p:cNvPr id="29" name="Chart 0" descr=""/>
          <p:cNvGraphicFramePr/>
          <p:nvPr/>
        </p:nvGraphicFramePr>
        <p:xfrm>
          <a:off x="6172200" y="3584448"/>
          <a:ext cx="5577840" cy="1719072"/>
        </p:xfrm>
        <a:graphic xmlns:a="http://schemas.openxmlformats.org/drawingml/2006/main">
          <a:graphicData uri="http://schemas.openxmlformats.org/drawingml/2006/chart">
            <c:chart xmlns:c="http://schemas.openxmlformats.org/drawingml/2006/chart" r:id="rId1"/>
          </a:graphicData>
        </a:graphic>
      </p:graphicFrame>
      <p:sp>
        <p:nvSpPr>
          <p:cNvPr id="30" name="Text 26"/>
          <p:cNvSpPr/>
          <p:nvPr/>
        </p:nvSpPr>
        <p:spPr>
          <a:xfrm>
            <a:off x="6309360" y="5376672"/>
            <a:ext cx="5394960" cy="420624"/>
          </a:xfrm>
          <a:prstGeom prst="rect">
            <a:avLst/>
          </a:prstGeom>
          <a:noFill/>
          <a:ln/>
        </p:spPr>
        <p:txBody>
          <a:bodyPr wrap="square" lIns="0" tIns="0" rIns="0" bIns="0" rtlCol="0" anchor="ctr"/>
          <a:lstStyle/>
          <a:p>
            <a:pPr indent="0" marL="0">
              <a:lnSpc>
                <a:spcPct val="105000"/>
              </a:lnSpc>
              <a:buNone/>
            </a:pPr>
            <a:r>
              <a:rPr lang="en-US" sz="1050" dirty="0">
                <a:solidFill>
                  <a:srgbClr val="6B7280"/>
                </a:solidFill>
                <a:latin typeface="Calibri" pitchFamily="34" charset="0"/>
                <a:ea typeface="Calibri" pitchFamily="34" charset="-122"/>
                <a:cs typeface="Calibri" pitchFamily="34" charset="-120"/>
              </a:rPr>
              <a:t>Saving grows with volume but not linearly: Textract drops to $0.60 per 1,000 pages above 1M pages per month, so the effective avoided rate falls from $1.50 to $0.90 per 1,000 by the 5× case.</a:t>
            </a:r>
            <a:endParaRPr lang="en-US" sz="1050" dirty="0"/>
          </a:p>
        </p:txBody>
      </p:sp>
      <p:sp>
        <p:nvSpPr>
          <p:cNvPr id="31" name="Shape 27"/>
          <p:cNvSpPr/>
          <p:nvPr/>
        </p:nvSpPr>
        <p:spPr>
          <a:xfrm>
            <a:off x="457200" y="5925312"/>
            <a:ext cx="11247120" cy="0"/>
          </a:xfrm>
          <a:prstGeom prst="line">
            <a:avLst/>
          </a:prstGeom>
          <a:noFill/>
          <a:ln w="12700">
            <a:solidFill>
              <a:srgbClr val="E2E6F0"/>
            </a:solidFill>
            <a:prstDash val="solid"/>
          </a:ln>
        </p:spPr>
      </p:sp>
      <p:sp>
        <p:nvSpPr>
          <p:cNvPr id="32" name="Text 28"/>
          <p:cNvSpPr/>
          <p:nvPr/>
        </p:nvSpPr>
        <p:spPr>
          <a:xfrm>
            <a:off x="457200" y="5998464"/>
            <a:ext cx="11247120" cy="548640"/>
          </a:xfrm>
          <a:prstGeom prst="rect">
            <a:avLst/>
          </a:prstGeom>
          <a:noFill/>
          <a:ln/>
        </p:spPr>
        <p:txBody>
          <a:bodyPr wrap="square" lIns="0" tIns="0" rIns="0" bIns="0" rtlCol="0" anchor="ctr"/>
          <a:lstStyle/>
          <a:p>
            <a:pPr indent="0" marL="0">
              <a:lnSpc>
                <a:spcPct val="105000"/>
              </a:lnSpc>
              <a:buNone/>
            </a:pPr>
            <a:r>
              <a:rPr lang="en-US" sz="850" dirty="0">
                <a:solidFill>
                  <a:srgbClr val="9AA3B2"/>
                </a:solidFill>
                <a:latin typeface="Calibri" pitchFamily="34" charset="0"/>
                <a:ea typeface="Calibri" pitchFamily="34" charset="-122"/>
                <a:cs typeface="Calibri" pitchFamily="34" charset="-120"/>
              </a:rPr>
              <a:t>Basis of estimate: Amazon Textract US-East DetectDocumentText at $1.50 per 1,000 pages for the first 1M pages per month and $0.60 per 1,000 pages thereafter — the conservative text-detection-only baseline. Had AnalyzeDocument (Tables, $15 per 1,000 pages) been carrying part of the load, avoided spend at today's run rate would be approximately $40K per year. Baseline preprocessing 3–5 min per submission, revised path under 1 min. Compute for the in-house OCR path is absorbed by existing provisioned infrastructure.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GreyB / EXL</dc:creator>
  <cp:lastModifiedBy>GreyB / EXL</cp:lastModifiedBy>
  <cp:revision>1</cp:revision>
  <dcterms:created xsi:type="dcterms:W3CDTF">2026-07-30T06:33:56Z</dcterms:created>
  <dcterms:modified xsi:type="dcterms:W3CDTF">2026-07-30T06:33:56Z</dcterms:modified>
</cp:coreProperties>
</file>